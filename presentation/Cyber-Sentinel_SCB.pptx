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media10.mp4" ContentType="video/mp4"/>
  <Override PartName="/ppt/media/image9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1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notesMasterIdLst>
    <p:notesMasterId r:id="rId22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l-PL" sz="4400" spc="-1" strike="noStrike">
                <a:solidFill>
                  <a:srgbClr val="000000"/>
                </a:solidFill>
                <a:latin typeface="Arial"/>
              </a:rPr>
              <a:t>Kliknij, aby przesunąć slajd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Kliknij, aby edytować format notatek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&lt;główka&gt;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&lt;data/godzina&gt;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4BA684D-8038-4E6D-9EB4-2E7D57B9D041}" type="slidenum"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94680" y="180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3780000"/>
            <a:ext cx="5038200" cy="23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A7CE0F-224A-43F6-BC53-57901474BC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-265320" y="-252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-180000" y="324072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C22150-3FB5-42AE-817F-73DEFAA92F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-84600" y="51552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-264600" y="39614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42479A-EA06-47A5-AE66-71E8AAB668F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540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-846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A0CCA0-0EB4-4138-9940-01CA6795DA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F448D5-4B52-47B6-9744-E53B2361F50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372AC9-8B76-4C29-B00E-F09EBA9CCF3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B641FB-BFC5-44BB-B694-DE18D80CF8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1061C9-3ADE-438D-902C-6CE345225B4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5D377B-1514-472E-9FE5-7EB40026C3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CAD320-369E-48B1-8CDC-2B17D0AC3E8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463232-4347-4D68-A9DF-C0CF628A08A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DF0370-A36F-46A9-9748-6884F07D68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453BF0-23FB-4576-A353-2F8B0BF4F11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11898B-A4E3-4020-A026-F0BD43CFBD8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C763AE-BC7A-4A41-96A8-68B5B48FBF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1b1b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71" name="Text 0"/>
          <p:cNvSpPr/>
          <p:nvPr/>
        </p:nvSpPr>
        <p:spPr>
          <a:xfrm>
            <a:off x="550800" y="537480"/>
            <a:ext cx="351396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Cyber Sentinel 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50800" y="1082880"/>
            <a:ext cx="351396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CyberFest 2026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50800" y="1563840"/>
            <a:ext cx="5068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550800" y="1990800"/>
            <a:ext cx="484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Your Family Is the Attack Surface </a:t>
            </a:r>
            <a:endParaRPr b="0" lang="pl-PL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How a Phishing Scam Turned My Home Lab into an AI Cyber Defence</a:t>
            </a:r>
            <a:endParaRPr b="0" lang="pl-PL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50800" y="2885400"/>
            <a:ext cx="461088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3000"/>
              </a:lnSpc>
              <a:spcAft>
                <a:spcPts val="2951"/>
              </a:spcAft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  <a:spcAft>
                <a:spcPts val="2951"/>
              </a:spcAft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Raleway Medium"/>
                <a:ea typeface="Raleway Medium"/>
              </a:rPr>
              <a:t>Speaker: Łukasz Dejko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Raleway Medium"/>
                <a:ea typeface="Raleway Medium"/>
              </a:rPr>
              <a:t>Senior Associate, Platform Engineering IAM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550800" y="455400"/>
            <a:ext cx="67050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Protect the Family, Don't Police It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50800" y="1182240"/>
            <a:ext cx="19839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What you'll learn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550800" y="1510920"/>
            <a:ext cx="50234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/>
          </a:bodyPr>
          <a:p>
            <a:pPr>
              <a:lnSpc>
                <a:spcPct val="133000"/>
              </a:lnSpc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How AI can catch phishing that blocklists don't know yet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How to keep AI cheap, explainable and auditable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How to run it all on a Raspberry Pi or old hardware (phone / PC)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550800" y="2391840"/>
            <a:ext cx="54806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550800" y="2750040"/>
            <a:ext cx="22143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What you won't learn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550800" y="3078720"/>
            <a:ext cx="5023440" cy="10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Code, line by line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How many times I broke my own home internet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A one-size-fits-all solution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5818680" y="1044360"/>
            <a:ext cx="2875680" cy="3640680"/>
          </a:xfrm>
          <a:prstGeom prst="roundRect">
            <a:avLst>
              <a:gd name="adj" fmla="val 11479"/>
            </a:avLst>
          </a:prstGeom>
          <a:solidFill>
            <a:srgbClr val="3d3d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956200" y="1182240"/>
            <a:ext cx="2600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Docs, GitHub, LinkedIn &amp;  YouTube demos : 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6061320" y="1795680"/>
            <a:ext cx="2390400" cy="2390400"/>
          </a:xfrm>
          <a:prstGeom prst="rect">
            <a:avLst/>
          </a:prstGeom>
          <a:ln w="0">
            <a:noFill/>
          </a:ln>
        </p:spPr>
      </p:pic>
      <p:sp>
        <p:nvSpPr>
          <p:cNvPr id="85" name="Text 8"/>
          <p:cNvSpPr/>
          <p:nvPr/>
        </p:nvSpPr>
        <p:spPr>
          <a:xfrm>
            <a:off x="5956200" y="4343760"/>
            <a:ext cx="30574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  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87" name="Text 0"/>
          <p:cNvSpPr/>
          <p:nvPr/>
        </p:nvSpPr>
        <p:spPr>
          <a:xfrm>
            <a:off x="550800" y="1143000"/>
            <a:ext cx="42724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Honey, I bought shoes!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50800" y="1580400"/>
            <a:ext cx="45597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Case study: a phishing site no blocklist knew about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50800" y="1978200"/>
            <a:ext cx="5068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50800" y="2405160"/>
            <a:ext cx="19839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What happened?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550800" y="2802960"/>
            <a:ext cx="461088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Brand-new phishing site – not on any blocklist at the time of the attack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A classic scam: a "great deal" to steal payment card details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The target wasn't my network – it was my family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550800" y="394920"/>
            <a:ext cx="461088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6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Start with one service, end with a fortress</a:t>
            </a:r>
            <a:endParaRPr b="0" lang="pl-PL" sz="16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50800" y="1031400"/>
            <a:ext cx="50680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3000"/>
              </a:lnSpc>
              <a:tabLst>
                <a:tab algn="l" pos="0"/>
              </a:tabLst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2850480" y="1238400"/>
            <a:ext cx="11520" cy="31003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2582640" y="161640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2821320" y="158760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550800" y="123840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401120" y="1334520"/>
            <a:ext cx="106776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1 — DNS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646920" y="1508760"/>
            <a:ext cx="18219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>
              <a:lnSpc>
                <a:spcPct val="113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Pi-hole + Unbound. 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13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Blocks ads and known phishing. 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2843280" y="213696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2821320" y="210780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3146760" y="175860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3242880" y="1855080"/>
            <a:ext cx="147168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2 — Passive DNS + DB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242880" y="2029320"/>
            <a:ext cx="18219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Log all DNS traffic. Know what happens in your network.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2582640" y="258984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2821320" y="256104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550800" y="221148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1401120" y="2307960"/>
            <a:ext cx="106776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 3 — CTI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646920" y="2482200"/>
            <a:ext cx="18219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VirusTotal, ThreatFox, URLHaus.  Add reputation to every domain.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2843280" y="304272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9"/>
          <p:cNvSpPr/>
          <p:nvPr/>
        </p:nvSpPr>
        <p:spPr>
          <a:xfrm>
            <a:off x="2821320" y="301392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3146760" y="266472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3242880" y="2760840"/>
            <a:ext cx="143640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4 — HashiCorp Vault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3242880" y="2935080"/>
            <a:ext cx="1821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Enterprise standards at home.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2582640" y="349596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2821320" y="346680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5"/>
          <p:cNvSpPr/>
          <p:nvPr/>
        </p:nvSpPr>
        <p:spPr>
          <a:xfrm>
            <a:off x="550800" y="311760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1401120" y="3213720"/>
            <a:ext cx="106776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5 — N8N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646920" y="3387960"/>
            <a:ext cx="18219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 </a:t>
            </a: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Gemini + n8n. Rules score, AI reviews, every verdict audited.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2843280" y="3948840"/>
            <a:ext cx="286200" cy="11520"/>
          </a:xfrm>
          <a:prstGeom prst="roundRect">
            <a:avLst>
              <a:gd name="adj" fmla="val 1011821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9"/>
          <p:cNvSpPr/>
          <p:nvPr/>
        </p:nvSpPr>
        <p:spPr>
          <a:xfrm>
            <a:off x="2821320" y="3919680"/>
            <a:ext cx="69480" cy="69480"/>
          </a:xfrm>
          <a:prstGeom prst="roundRect">
            <a:avLst>
              <a:gd name="adj" fmla="val 395469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0"/>
          <p:cNvSpPr/>
          <p:nvPr/>
        </p:nvSpPr>
        <p:spPr>
          <a:xfrm>
            <a:off x="3146760" y="3570480"/>
            <a:ext cx="2014920" cy="76824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1"/>
          <p:cNvSpPr/>
          <p:nvPr/>
        </p:nvSpPr>
        <p:spPr>
          <a:xfrm>
            <a:off x="3242880" y="3666960"/>
            <a:ext cx="108720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8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Step 6 — Mobility</a:t>
            </a:r>
            <a:endParaRPr b="0" lang="pl-PL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2"/>
          <p:cNvSpPr/>
          <p:nvPr/>
        </p:nvSpPr>
        <p:spPr>
          <a:xfrm>
            <a:off x="3242880" y="3841200"/>
            <a:ext cx="1821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Protection goes with the family everywhere.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33"/>
          <p:cNvSpPr/>
          <p:nvPr/>
        </p:nvSpPr>
        <p:spPr>
          <a:xfrm>
            <a:off x="550800" y="4417200"/>
            <a:ext cx="4610880" cy="328320"/>
          </a:xfrm>
          <a:prstGeom prst="roundRect">
            <a:avLst>
              <a:gd name="adj" fmla="val 43638"/>
            </a:avLst>
          </a:prstGeom>
          <a:solidFill>
            <a:srgbClr val="4d4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2"/>
          <a:stretch/>
        </p:blipFill>
        <p:spPr>
          <a:xfrm>
            <a:off x="646920" y="4548600"/>
            <a:ext cx="117360" cy="93600"/>
          </a:xfrm>
          <a:prstGeom prst="rect">
            <a:avLst/>
          </a:prstGeom>
          <a:ln w="0">
            <a:noFill/>
          </a:ln>
        </p:spPr>
      </p:pic>
      <p:sp>
        <p:nvSpPr>
          <p:cNvPr id="128" name="Text 34"/>
          <p:cNvSpPr/>
          <p:nvPr/>
        </p:nvSpPr>
        <p:spPr>
          <a:xfrm>
            <a:off x="863640" y="4508640"/>
            <a:ext cx="46584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Raleway Medium"/>
                <a:ea typeface="Raleway Medium"/>
              </a:rPr>
              <a:t>Don't try to build everything at once. It is the shortest way to burnout.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130" name="Text 0"/>
          <p:cNvSpPr/>
          <p:nvPr/>
        </p:nvSpPr>
        <p:spPr>
          <a:xfrm>
            <a:off x="3979800" y="601200"/>
            <a:ext cx="42454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Built from e-waste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3979800" y="1038600"/>
            <a:ext cx="26978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3880440" y="1436400"/>
            <a:ext cx="2334240" cy="2198160"/>
          </a:xfrm>
          <a:prstGeom prst="roundRect">
            <a:avLst>
              <a:gd name="adj" fmla="val 15013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018320" y="1573920"/>
            <a:ext cx="19839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My data center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018320" y="1902960"/>
            <a:ext cx="2058840" cy="12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Raspberry Pi 5 ( PROD )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Old Mini-PC ( DEV )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Old Android phones 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6360120" y="1436400"/>
            <a:ext cx="2334240" cy="2198160"/>
          </a:xfrm>
          <a:prstGeom prst="roundRect">
            <a:avLst>
              <a:gd name="adj" fmla="val 15013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6497640" y="1573920"/>
            <a:ext cx="22622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Why self-hosting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6497640" y="1902960"/>
            <a:ext cx="2058840" cy="16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Full control of data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DNS logs stay private, no subscriptions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No subscription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4186080" y="3947040"/>
            <a:ext cx="4404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"The cloud is simply someone else's computer. Your data should be on your own hardware."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3979800" y="3792240"/>
            <a:ext cx="16200" cy="74736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141" name="Text 0"/>
          <p:cNvSpPr/>
          <p:nvPr/>
        </p:nvSpPr>
        <p:spPr>
          <a:xfrm>
            <a:off x="3971160" y="421200"/>
            <a:ext cx="440604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Cluster made from old phones</a:t>
            </a:r>
            <a:endParaRPr b="0" lang="pl-PL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3971160" y="803160"/>
            <a:ext cx="424512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3883320" y="1134360"/>
            <a:ext cx="2339280" cy="1420560"/>
          </a:xfrm>
          <a:prstGeom prst="roundRect">
            <a:avLst>
              <a:gd name="adj" fmla="val 20567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4005360" y="1242720"/>
            <a:ext cx="209556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What do you need?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4023360" y="1620000"/>
            <a:ext cx="20955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Old Android phones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Termux + Linix distro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Wi-Fi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6352200" y="1134360"/>
            <a:ext cx="2339280" cy="1420560"/>
          </a:xfrm>
          <a:prstGeom prst="roundRect">
            <a:avLst>
              <a:gd name="adj" fmla="val 20567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6474240" y="1242720"/>
            <a:ext cx="255276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Why a phone?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6474240" y="1621800"/>
            <a:ext cx="2095560" cy="8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Server for 0$ /month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Built-in UPS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3883320" y="2679480"/>
            <a:ext cx="2339280" cy="2040120"/>
          </a:xfrm>
          <a:prstGeom prst="roundRect">
            <a:avLst>
              <a:gd name="adj" fmla="val 14330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4005360" y="2787480"/>
            <a:ext cx="255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Level up </a:t>
            </a:r>
            <a:r>
              <a:rPr b="1" lang="en-US" sz="1700" spc="-1" strike="noStrike">
                <a:solidFill>
                  <a:srgbClr val="000000"/>
                </a:solidFill>
                <a:latin typeface="Comfortaa Bold"/>
                <a:ea typeface="Comfortaa Bold"/>
              </a:rPr>
              <a:t>🚀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4005360" y="3171240"/>
            <a:ext cx="2095560" cy="9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Uninstall Android, install Linux.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6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Unlock bootloader + root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6000"/>
              </a:lnSpc>
            </a:pP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6352200" y="2679480"/>
            <a:ext cx="2339280" cy="2040120"/>
          </a:xfrm>
          <a:prstGeom prst="roundRect">
            <a:avLst>
              <a:gd name="adj" fmla="val 14330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6245640" y="2776680"/>
            <a:ext cx="2573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26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Watch the demo on YouTube: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1" descr="preencoded.png"/>
          <p:cNvPicPr/>
          <p:nvPr/>
        </p:nvPicPr>
        <p:blipFill>
          <a:blip r:embed="rId2"/>
          <a:stretch/>
        </p:blipFill>
        <p:spPr>
          <a:xfrm>
            <a:off x="6791400" y="3128040"/>
            <a:ext cx="1460880" cy="146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156" name="Text 0"/>
          <p:cNvSpPr/>
          <p:nvPr/>
        </p:nvSpPr>
        <p:spPr>
          <a:xfrm>
            <a:off x="3979800" y="593280"/>
            <a:ext cx="50083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How to break your internet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979800" y="1031040"/>
            <a:ext cx="46198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Anti-pattern: production as a test lab.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979800" y="1824840"/>
            <a:ext cx="461088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Saturday morning. You "just update the services"... 5 minutes later the whole family shouts: WHERE IS THE INTERNET ?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3960000" y="3384000"/>
            <a:ext cx="4610880" cy="1022760"/>
          </a:xfrm>
          <a:prstGeom prst="roundRect">
            <a:avLst>
              <a:gd name="adj" fmla="val 20138"/>
            </a:avLst>
          </a:prstGeom>
          <a:solidFill>
            <a:srgbClr val="4507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253040" y="3528000"/>
            <a:ext cx="402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3333"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Raleway Medium"/>
                <a:ea typeface="Raleway Medium"/>
              </a:rPr>
              <a:t>The lesson: your home lab is your production environment. Treat it like an engineer, not a hobbyist. Test on a branch, and deploy with a rollback plan.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13"/>
          <p:cNvSpPr/>
          <p:nvPr/>
        </p:nvSpPr>
        <p:spPr>
          <a:xfrm>
            <a:off x="180000" y="0"/>
            <a:ext cx="51462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Demo: Cyber Sentinel live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3749400" y="144000"/>
            <a:ext cx="5069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One analysis in under 20 seconds.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720" y="291240"/>
            <a:ext cx="9020160" cy="50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226800" y="234720"/>
            <a:ext cx="38862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From DNS query to AI verdict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214560" y="838800"/>
            <a:ext cx="8784360" cy="1723320"/>
          </a:xfrm>
          <a:prstGeom prst="rect">
            <a:avLst/>
          </a:prstGeom>
          <a:ln w="0">
            <a:noFill/>
          </a:ln>
        </p:spPr>
      </p:pic>
      <p:sp>
        <p:nvSpPr>
          <p:cNvPr id="166" name="Shape 12"/>
          <p:cNvSpPr/>
          <p:nvPr/>
        </p:nvSpPr>
        <p:spPr>
          <a:xfrm>
            <a:off x="185040" y="2700000"/>
            <a:ext cx="8814240" cy="2198160"/>
          </a:xfrm>
          <a:prstGeom prst="roundRect">
            <a:avLst>
              <a:gd name="adj" fmla="val 15013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705600" y="2837520"/>
            <a:ext cx="74919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Inside the n8n workflow — 5 steps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345600" y="3310560"/>
            <a:ext cx="7774560" cy="12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1. Collect — every 3 minutes: load settings from the database, secrets from Vault, pick one new domain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2. Enrich — VirusTotal gate, then ThreatFox + URLhaus; the database gives a rule score 1–5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3. Analyse — Gemini AI agent reviews the evidence and checks similar past cases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4. Store — raw data, verdict and audit record; the verdict also goes to AI memory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1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5. Respond — email alert and automatic block in Pi-hole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50800" y="188280"/>
            <a:ext cx="5473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AI Workflow — How to avoid going bankrupt on tokens</a:t>
            </a:r>
            <a:endParaRPr b="0" lang="pl-PL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50800" y="460080"/>
            <a:ext cx="23061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4567320" y="671760"/>
            <a:ext cx="6480" cy="2140200"/>
          </a:xfrm>
          <a:prstGeom prst="roundRect">
            <a:avLst>
              <a:gd name="adj" fmla="val 1409370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4313160" y="1024920"/>
            <a:ext cx="265680" cy="6480"/>
          </a:xfrm>
          <a:prstGeom prst="roundRect">
            <a:avLst>
              <a:gd name="adj" fmla="val 1409370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4538520" y="996120"/>
            <a:ext cx="64080" cy="64080"/>
          </a:xfrm>
          <a:prstGeom prst="roundRect">
            <a:avLst>
              <a:gd name="adj" fmla="val 426194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550800" y="671760"/>
            <a:ext cx="3750120" cy="71316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4562640" y="1499040"/>
            <a:ext cx="265680" cy="6480"/>
          </a:xfrm>
          <a:prstGeom prst="roundRect">
            <a:avLst>
              <a:gd name="adj" fmla="val 1409370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4538520" y="1470240"/>
            <a:ext cx="64080" cy="64080"/>
          </a:xfrm>
          <a:prstGeom prst="roundRect">
            <a:avLst>
              <a:gd name="adj" fmla="val 426194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4840560" y="1145880"/>
            <a:ext cx="3750120" cy="71316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929840" y="1523160"/>
            <a:ext cx="40284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4929840" y="1244160"/>
            <a:ext cx="31212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Stage 1 — IF gates (pre-filter)</a:t>
            </a:r>
            <a:endParaRPr b="0" lang="pl-PL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4929840" y="1910160"/>
            <a:ext cx="40284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4313160" y="1915200"/>
            <a:ext cx="265680" cy="6480"/>
          </a:xfrm>
          <a:prstGeom prst="roundRect">
            <a:avLst>
              <a:gd name="adj" fmla="val 1409370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4538520" y="1886400"/>
            <a:ext cx="64080" cy="64080"/>
          </a:xfrm>
          <a:prstGeom prst="roundRect">
            <a:avLst>
              <a:gd name="adj" fmla="val 426194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550800" y="1562040"/>
            <a:ext cx="3750120" cy="713160"/>
          </a:xfrm>
          <a:prstGeom prst="roundRect">
            <a:avLst>
              <a:gd name="adj" fmla="val 18751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182880" y="1651320"/>
            <a:ext cx="35712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2152800" y="1588320"/>
            <a:ext cx="20332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Stage 2 — Data reduction</a:t>
            </a:r>
            <a:endParaRPr b="0" lang="pl-PL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182880" y="2038320"/>
            <a:ext cx="35712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4562640" y="2391840"/>
            <a:ext cx="265680" cy="6480"/>
          </a:xfrm>
          <a:prstGeom prst="roundRect">
            <a:avLst>
              <a:gd name="adj" fmla="val 1409370"/>
            </a:avLst>
          </a:prstGeom>
          <a:solidFill>
            <a:srgbClr val="5f5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4538520" y="2363040"/>
            <a:ext cx="64080" cy="64080"/>
          </a:xfrm>
          <a:prstGeom prst="roundRect">
            <a:avLst>
              <a:gd name="adj" fmla="val 426194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4840560" y="1978200"/>
            <a:ext cx="3750120" cy="833760"/>
          </a:xfrm>
          <a:prstGeom prst="roundRect">
            <a:avLst>
              <a:gd name="adj" fmla="val 16044"/>
            </a:avLst>
          </a:prstGeom>
          <a:solidFill>
            <a:srgbClr val="4646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4929840" y="2355480"/>
            <a:ext cx="40284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4929840" y="2004480"/>
            <a:ext cx="263844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Stage 3 — Merge + AI Agent</a:t>
            </a:r>
            <a:endParaRPr b="0" lang="pl-PL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4"/>
          <p:cNvSpPr/>
          <p:nvPr/>
        </p:nvSpPr>
        <p:spPr>
          <a:xfrm>
            <a:off x="4929840" y="2454480"/>
            <a:ext cx="35712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350640" y="2997000"/>
            <a:ext cx="1936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&lt; 500</a:t>
            </a:r>
            <a:endParaRPr b="0" lang="pl-PL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118800" y="3380760"/>
            <a:ext cx="2629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Unique daily DNS queries after Pi-Hole filtering (~50% dropped at the input)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2732040" y="2997000"/>
            <a:ext cx="1936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20-30</a:t>
            </a:r>
            <a:endParaRPr b="0" lang="pl-PL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2544480" y="3380760"/>
            <a:ext cx="2311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That is the actual amount that 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goes into AI analysis—per month.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4645080" y="2997000"/>
            <a:ext cx="1936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0 $</a:t>
            </a:r>
            <a:endParaRPr b="0" lang="pl-PL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4556880" y="3380760"/>
            <a:ext cx="21132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That’s how much it all costs per month.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6908040" y="2998080"/>
            <a:ext cx="1936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~2300</a:t>
            </a:r>
            <a:endParaRPr b="0" lang="pl-PL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2"/>
          <p:cNvSpPr/>
          <p:nvPr/>
        </p:nvSpPr>
        <p:spPr>
          <a:xfrm>
            <a:off x="7026840" y="3381840"/>
            <a:ext cx="16984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AI input and output tokens for a single query</a:t>
            </a:r>
            <a:endParaRPr b="0" lang="pl-PL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3"/>
          <p:cNvSpPr/>
          <p:nvPr/>
        </p:nvSpPr>
        <p:spPr>
          <a:xfrm>
            <a:off x="6447240" y="3540960"/>
            <a:ext cx="285804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726120" y="4212000"/>
            <a:ext cx="7912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Sending every DNS query to an AI would be slow and expensive. 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The AI gets only the cases that really need a second opinion — and the bill stays at zero.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 flipH="1">
            <a:off x="538560" y="4140000"/>
            <a:ext cx="9720" cy="54000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45"/>
          <p:cNvSpPr/>
          <p:nvPr/>
        </p:nvSpPr>
        <p:spPr>
          <a:xfrm>
            <a:off x="640080" y="1924920"/>
            <a:ext cx="35712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Aft>
                <a:spcPts val="249"/>
              </a:spcAft>
              <a:tabLst>
                <a:tab algn="l" pos="0"/>
              </a:tabLst>
            </a:pPr>
            <a:r>
              <a:rPr b="0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From each CTI response only the key facts are kept. The full raw data goes to the database, not to the AI.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46"/>
          <p:cNvSpPr/>
          <p:nvPr/>
        </p:nvSpPr>
        <p:spPr>
          <a:xfrm>
            <a:off x="640080" y="772920"/>
            <a:ext cx="35712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Aft>
                <a:spcPts val="249"/>
              </a:spcAft>
              <a:tabLst>
                <a:tab algn="l" pos="0"/>
              </a:tabLst>
            </a:pPr>
            <a:r>
              <a:rPr b="0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Problem - LLM call on every DNS query = $$$$$$. 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10000"/>
              </a:lnSpc>
              <a:spcAft>
                <a:spcPts val="249"/>
              </a:spcAft>
              <a:tabLst>
                <a:tab algn="l" pos="0"/>
              </a:tabLst>
            </a:pPr>
            <a:endParaRPr b="0" lang="pl-PL" sz="85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10000"/>
              </a:lnSpc>
              <a:spcAft>
                <a:spcPts val="249"/>
              </a:spcAft>
              <a:tabLst>
                <a:tab algn="l" pos="0"/>
              </a:tabLst>
            </a:pPr>
            <a:r>
              <a:rPr b="0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You need to filter out the noise and compress the signal.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7"/>
          <p:cNvSpPr/>
          <p:nvPr/>
        </p:nvSpPr>
        <p:spPr>
          <a:xfrm>
            <a:off x="4888080" y="2320920"/>
            <a:ext cx="35712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Aft>
                <a:spcPts val="249"/>
              </a:spcAft>
              <a:tabLst>
                <a:tab algn="l" pos="0"/>
              </a:tabLst>
            </a:pPr>
            <a:r>
              <a:rPr b="0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All evidence and the rule score (1–5) go into one short request. Gemini reviews the score and explains it.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8"/>
          <p:cNvSpPr/>
          <p:nvPr/>
        </p:nvSpPr>
        <p:spPr>
          <a:xfrm>
            <a:off x="4929840" y="1518480"/>
            <a:ext cx="35712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9"/>
          <p:cNvSpPr/>
          <p:nvPr/>
        </p:nvSpPr>
        <p:spPr>
          <a:xfrm>
            <a:off x="4888080" y="1492920"/>
            <a:ext cx="35712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VirusTotal checks the IP. Popular, trusted and recently checked domains are skipped.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228240" y="141840"/>
            <a:ext cx="2462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KISS &amp; DRY: one place for every setting</a:t>
            </a:r>
            <a:endParaRPr b="0" lang="pl-PL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516240" y="4316040"/>
            <a:ext cx="85658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363960" y="4713120"/>
            <a:ext cx="843012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8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I don't like editing the database. So I built a page for it.</a:t>
            </a:r>
            <a:endParaRPr b="0" lang="pl-PL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264240" y="4646520"/>
            <a:ext cx="6480" cy="28008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252000" y="540000"/>
            <a:ext cx="6716520" cy="3959280"/>
          </a:xfrm>
          <a:prstGeom prst="rect">
            <a:avLst/>
          </a:prstGeom>
          <a:ln w="0">
            <a:noFill/>
          </a:ln>
        </p:spPr>
      </p:pic>
      <p:sp>
        <p:nvSpPr>
          <p:cNvPr id="214" name="Shape 16"/>
          <p:cNvSpPr/>
          <p:nvPr/>
        </p:nvSpPr>
        <p:spPr>
          <a:xfrm>
            <a:off x="7056000" y="576000"/>
            <a:ext cx="1979280" cy="3856680"/>
          </a:xfrm>
          <a:prstGeom prst="roundRect">
            <a:avLst>
              <a:gd name="adj" fmla="val 13440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4"/>
          <p:cNvSpPr/>
          <p:nvPr/>
        </p:nvSpPr>
        <p:spPr>
          <a:xfrm>
            <a:off x="7128000" y="823680"/>
            <a:ext cx="1835280" cy="34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10000"/>
          </a:bodyPr>
          <a:p>
            <a:pPr marL="343080" indent="-34308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KISS — </a:t>
            </a: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Keep It Simple — one database, one workflow, plain SQL: easy to read, easy to audit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DRY — </a:t>
            </a: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Don't Repeat Yourself — every threshold and prompt is stored once, in the database; n8n only reads it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Sep</a:t>
            </a:r>
            <a:r>
              <a:rPr b="1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aration of concerns — </a:t>
            </a: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logic in the workflow, settings in a web UI: change behaviour without touching code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 4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217" name="Text 35"/>
          <p:cNvSpPr/>
          <p:nvPr/>
        </p:nvSpPr>
        <p:spPr>
          <a:xfrm>
            <a:off x="550800" y="423720"/>
            <a:ext cx="33609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HashiCorp Vault</a:t>
            </a:r>
            <a:endParaRPr b="0" lang="pl-PL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6"/>
          <p:cNvSpPr/>
          <p:nvPr/>
        </p:nvSpPr>
        <p:spPr>
          <a:xfrm>
            <a:off x="550800" y="836640"/>
            <a:ext cx="468972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Enterprise secret management — at home.</a:t>
            </a:r>
            <a:endParaRPr b="0" lang="pl-PL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456480" y="1204560"/>
            <a:ext cx="2332800" cy="2889000"/>
          </a:xfrm>
          <a:prstGeom prst="roundRect">
            <a:avLst>
              <a:gd name="adj" fmla="val 13440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587160" y="1328760"/>
            <a:ext cx="20714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Standard of a typical home server</a:t>
            </a:r>
            <a:endParaRPr b="0" lang="pl-PL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38"/>
          <p:cNvSpPr/>
          <p:nvPr/>
        </p:nvSpPr>
        <p:spPr>
          <a:xfrm>
            <a:off x="587160" y="1816200"/>
            <a:ext cx="207144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buClr>
                <a:srgbClr val="d7d4cc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d7d4cc"/>
                </a:solidFill>
                <a:latin typeface="Arial"/>
              </a:rPr>
              <a:t>Most home labs keep passwords in files next to the code. 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39"/>
          <p:cNvSpPr/>
          <p:nvPr/>
        </p:nvSpPr>
        <p:spPr>
          <a:xfrm>
            <a:off x="587160" y="2859840"/>
            <a:ext cx="25286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2927520" y="1204560"/>
            <a:ext cx="2332800" cy="2889000"/>
          </a:xfrm>
          <a:prstGeom prst="roundRect">
            <a:avLst>
              <a:gd name="adj" fmla="val 13440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3058200" y="1328760"/>
            <a:ext cx="21286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omfortaa Bold"/>
                <a:ea typeface="Comfortaa Bold"/>
              </a:rPr>
              <a:t>Cyber Sentinel and HCV</a:t>
            </a:r>
            <a:endParaRPr b="0" lang="pl-PL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2"/>
          <p:cNvSpPr/>
          <p:nvPr/>
        </p:nvSpPr>
        <p:spPr>
          <a:xfrm>
            <a:off x="3058200" y="1634760"/>
            <a:ext cx="2071440" cy="24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No passwords in code or workflow JSON files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Everything retrieved from Vault during the session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Token issued only for the duration of the workflow execution, then expires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Full automation of initialization via Ansible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Audit of every secret access event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43"/>
          <p:cNvSpPr/>
          <p:nvPr/>
        </p:nvSpPr>
        <p:spPr>
          <a:xfrm>
            <a:off x="747000" y="4375800"/>
            <a:ext cx="48718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If your API key leaks from the repository — it is your fault.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6"/>
          <p:cNvSpPr/>
          <p:nvPr/>
        </p:nvSpPr>
        <p:spPr>
          <a:xfrm>
            <a:off x="550800" y="4236120"/>
            <a:ext cx="11520" cy="48060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229" name="Text 0"/>
          <p:cNvSpPr/>
          <p:nvPr/>
        </p:nvSpPr>
        <p:spPr>
          <a:xfrm>
            <a:off x="550800" y="321480"/>
            <a:ext cx="48402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Never trust, always verify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50800" y="830160"/>
            <a:ext cx="461088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Firefox in a container — profile only in RAM, nothing left after closing.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66560" y="1440000"/>
            <a:ext cx="2329560" cy="3155040"/>
          </a:xfrm>
          <a:prstGeom prst="roundRect">
            <a:avLst>
              <a:gd name="adj" fmla="val 12041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583560" y="1511640"/>
            <a:ext cx="2153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Each browser session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583560" y="1773360"/>
            <a:ext cx="209592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Firefox running as a Docker container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User profile stored entirely in RAM—not on disk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Upon closing the container: no cookies, no history, no cache, no local data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583560" y="3155040"/>
            <a:ext cx="18975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Every DNS query</a:t>
            </a:r>
            <a:endParaRPr b="0" lang="pl-PL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583560" y="3417120"/>
            <a:ext cx="209592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Logged via passive_dns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Correlated with the rest of the home traffic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2920680" y="1412280"/>
            <a:ext cx="2329560" cy="3155040"/>
          </a:xfrm>
          <a:prstGeom prst="roundRect">
            <a:avLst>
              <a:gd name="adj" fmla="val 12041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3096000" y="1584000"/>
            <a:ext cx="207360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When I want to quickly open a suspicious link, I do so using Firefox running in a container. 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Raleway Medium"/>
                <a:ea typeface="Raleway Medium"/>
              </a:rPr>
              <a:t>It isn't a perfect sandbox, but it protects against common scams.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3037680" y="2259000"/>
            <a:ext cx="11520" cy="51696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6120" cy="5140800"/>
          </a:xfrm>
          <a:prstGeom prst="rect">
            <a:avLst/>
          </a:prstGeom>
          <a:ln w="0">
            <a:noFill/>
          </a:ln>
        </p:spPr>
      </p:pic>
      <p:sp>
        <p:nvSpPr>
          <p:cNvPr id="240" name="Text 0"/>
          <p:cNvSpPr/>
          <p:nvPr/>
        </p:nvSpPr>
        <p:spPr>
          <a:xfrm>
            <a:off x="3979800" y="406080"/>
            <a:ext cx="36097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Tailscale + Magic DNS = Free VPN</a:t>
            </a:r>
            <a:endParaRPr b="0" lang="pl-PL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3979800" y="1010880"/>
            <a:ext cx="283824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Sentinel goes everywhere with the family.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3979800" y="1350360"/>
            <a:ext cx="506808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1" descr="preencoded.png"/>
          <p:cNvPicPr/>
          <p:nvPr/>
        </p:nvPicPr>
        <p:blipFill>
          <a:blip r:embed="rId2"/>
          <a:stretch/>
        </p:blipFill>
        <p:spPr>
          <a:xfrm>
            <a:off x="3979800" y="1519920"/>
            <a:ext cx="307080" cy="307080"/>
          </a:xfrm>
          <a:prstGeom prst="rect">
            <a:avLst/>
          </a:prstGeom>
          <a:ln w="0">
            <a:noFill/>
          </a:ln>
        </p:spPr>
      </p:pic>
      <p:sp>
        <p:nvSpPr>
          <p:cNvPr id="244" name="Text 3"/>
          <p:cNvSpPr/>
          <p:nvPr/>
        </p:nvSpPr>
        <p:spPr>
          <a:xfrm>
            <a:off x="4428720" y="1519920"/>
            <a:ext cx="137376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How does it work?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4428720" y="1758960"/>
            <a:ext cx="416160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Every device has a Tailscale client that starts automatically! MagicDNS routes all DNS queries to the home server—regardless of the device's location.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6" name="Image 2" descr="preencoded.png"/>
          <p:cNvPicPr/>
          <p:nvPr/>
        </p:nvPicPr>
        <p:blipFill>
          <a:blip r:embed="rId3"/>
          <a:stretch/>
        </p:blipFill>
        <p:spPr>
          <a:xfrm>
            <a:off x="3979800" y="2690640"/>
            <a:ext cx="307080" cy="307080"/>
          </a:xfrm>
          <a:prstGeom prst="rect">
            <a:avLst/>
          </a:prstGeom>
          <a:ln w="0">
            <a:noFill/>
          </a:ln>
        </p:spPr>
      </p:pic>
      <p:sp>
        <p:nvSpPr>
          <p:cNvPr id="247" name="Text 5"/>
          <p:cNvSpPr/>
          <p:nvPr/>
        </p:nvSpPr>
        <p:spPr>
          <a:xfrm>
            <a:off x="4428720" y="2690640"/>
            <a:ext cx="33220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Practical result → </a:t>
            </a:r>
            <a:r>
              <a:rPr b="1" lang="en-US" sz="10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Threat detection everywhere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4428720" y="2929680"/>
            <a:ext cx="416160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DNS query via Tailscale → Pi-hole → logs to passive_dns → AI analysis → Blocking and email alert.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3" descr="preencoded.png"/>
          <p:cNvPicPr/>
          <p:nvPr/>
        </p:nvPicPr>
        <p:blipFill>
          <a:blip r:embed="rId4"/>
          <a:stretch/>
        </p:blipFill>
        <p:spPr>
          <a:xfrm>
            <a:off x="3979800" y="3637440"/>
            <a:ext cx="307080" cy="307080"/>
          </a:xfrm>
          <a:prstGeom prst="rect">
            <a:avLst/>
          </a:prstGeom>
          <a:ln w="0">
            <a:noFill/>
          </a:ln>
        </p:spPr>
      </p:pic>
      <p:sp>
        <p:nvSpPr>
          <p:cNvPr id="250" name="Text 7"/>
          <p:cNvSpPr/>
          <p:nvPr/>
        </p:nvSpPr>
        <p:spPr>
          <a:xfrm>
            <a:off x="4428720" y="3637440"/>
            <a:ext cx="137376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7d4cc"/>
                </a:solidFill>
                <a:latin typeface="Comfortaa Bold"/>
                <a:ea typeface="Comfortaa Bold"/>
              </a:rPr>
              <a:t>Scalability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4428720" y="3876120"/>
            <a:ext cx="416160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The free Tailscale plan supports an unlimited number of devices for 6 users.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4165560" y="4495320"/>
            <a:ext cx="48823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"Your network doesn't end anywhere. Tailscale changes that.</a:t>
            </a:r>
            <a:endParaRPr b="0" lang="pl-PL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3979800" y="4370040"/>
            <a:ext cx="11520" cy="436320"/>
          </a:xfrm>
          <a:prstGeom prst="rect">
            <a:avLst/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542160" y="417600"/>
            <a:ext cx="31647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Thank You !!!</a:t>
            </a:r>
            <a:endParaRPr b="0" lang="pl-PL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542520" y="943560"/>
            <a:ext cx="510912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Cyber ​​Sentinel: open source, open documentation, open mind.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MIT License — free to use, change and share; 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GitHub: lukaszFD/cyber-sentinel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454320" y="3147120"/>
            <a:ext cx="4053960" cy="1568520"/>
          </a:xfrm>
          <a:prstGeom prst="roundRect">
            <a:avLst>
              <a:gd name="adj" fmla="val 8144"/>
            </a:avLst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576360" y="3255120"/>
            <a:ext cx="222948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Comfortaa Bold"/>
                <a:ea typeface="Comfortaa Bold"/>
              </a:rPr>
              <a:t>🗺️</a:t>
            </a:r>
            <a:r>
              <a:rPr b="1" lang="en-US" sz="10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 </a:t>
            </a:r>
            <a:r>
              <a:rPr b="1" lang="en-US" sz="105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What's next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576360" y="1521360"/>
            <a:ext cx="3809880" cy="27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6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576360" y="4629960"/>
            <a:ext cx="4267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576360" y="4556160"/>
            <a:ext cx="380988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6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576360" y="3885840"/>
            <a:ext cx="180972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576360" y="4163400"/>
            <a:ext cx="38098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spcAft>
                <a:spcPts val="2200"/>
              </a:spcAft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4585680" y="3147120"/>
            <a:ext cx="4053960" cy="1532520"/>
          </a:xfrm>
          <a:prstGeom prst="roundRect">
            <a:avLst>
              <a:gd name="adj" fmla="val 8144"/>
            </a:avLst>
          </a:prstGeom>
          <a:solidFill>
            <a:srgbClr val="ffe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4879080" y="3471120"/>
            <a:ext cx="348624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mfortaa Bold"/>
                <a:ea typeface="Comfortaa Bold"/>
              </a:rPr>
              <a:t>Did you like it? 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mfortaa Bold"/>
                <a:ea typeface="Comfortaa Bold"/>
              </a:rPr>
              <a:t>Give me 365 Feedback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40"/>
          <p:cNvSpPr/>
          <p:nvPr/>
        </p:nvSpPr>
        <p:spPr>
          <a:xfrm>
            <a:off x="603720" y="3513960"/>
            <a:ext cx="3782520" cy="12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3000"/>
              </a:lnSpc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Recon — agents re-check past detections: still dangerous, or safe to unblock?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23000"/>
              </a:lnSpc>
              <a:spcBef>
                <a:spcPts val="1191"/>
              </a:spcBef>
              <a:spcAft>
                <a:spcPts val="992"/>
              </a:spcAft>
              <a:buClr>
                <a:srgbClr val="d7d4cc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Own blocklists on GitHub — public lists built from my verdicts, ready to add to any DNS; focus on phishing, telemetry and tracking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6" name="Image 5" descr="preencoded.png"/>
          <p:cNvPicPr/>
          <p:nvPr/>
        </p:nvPicPr>
        <p:blipFill>
          <a:blip r:embed="rId1"/>
          <a:stretch/>
        </p:blipFill>
        <p:spPr>
          <a:xfrm>
            <a:off x="6300000" y="540000"/>
            <a:ext cx="2339640" cy="23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1120" cy="5140800"/>
          </a:xfrm>
          <a:prstGeom prst="rect">
            <a:avLst/>
          </a:prstGeom>
          <a:ln w="0">
            <a:noFill/>
          </a:ln>
        </p:spPr>
      </p:pic>
      <p:sp>
        <p:nvSpPr>
          <p:cNvPr id="268" name="Shape 0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rgbClr val="27272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2232360" y="1906920"/>
            <a:ext cx="444780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300" spc="-1" strike="noStrike">
                <a:solidFill>
                  <a:srgbClr val="ffe14d"/>
                </a:solidFill>
                <a:latin typeface="Comfortaa Bold"/>
                <a:ea typeface="Comfortaa Bold"/>
              </a:rPr>
              <a:t>See you!</a:t>
            </a:r>
            <a:endParaRPr b="0" lang="pl-PL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550800" y="2641320"/>
            <a:ext cx="80398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33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050" spc="-1" strike="noStrike">
                <a:solidFill>
                  <a:srgbClr val="d7d4cc"/>
                </a:solidFill>
                <a:latin typeface="Raleway Medium"/>
                <a:ea typeface="Raleway Medium"/>
              </a:rPr>
              <a:t>Thank you for your attention and interest in the Cyber ​​Sentinel project.</a:t>
            </a: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3000"/>
              </a:lnSpc>
              <a:tabLst>
                <a:tab algn="l" pos="0"/>
              </a:tabLst>
            </a:pPr>
            <a:endParaRPr b="0" lang="pl-PL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2026-05-24T07:25:49Z</dcterms:created>
  <dc:creator/>
  <dc:description/>
  <dc:language>pl-PL</dc:language>
  <cp:lastModifiedBy/>
  <cp:lastPrinted>2026-10-12T15:44:02Z</cp:lastPrinted>
  <dcterms:modified xsi:type="dcterms:W3CDTF">2026-10-16T16:04:07Z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